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88952" cy="25603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02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AutoResearch for Traffic Congestion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D0E4F5"/>
                </a:solidFill>
              </a:rPr>
              <a:t>Segment-relative features break a labeling-driven F1 ceiling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STAT 390 Capstone  •  Sherry Huang  •  Northwestern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3CD"/>
                </a:solidFill>
              </a:rPr>
              <a:t>One-sentence claim: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38328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Adding 4 road-specific speed features to a LightGBM model raises 30-min-ahead congestion F1 from 0.560 → 0.681 on validation (+21.6%) and 0.618 on held-out test, breaking a ceiling that 18 hyperparameter experiments could not cross.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D0E4F5"/>
                </a:solidFill>
              </a:rPr>
              <a:t>30 experiments  •  0 crashes  •  Test set opened exactly once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From Topic to AutoResearch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</a:rPr>
              <a:t>How the research question was formalized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2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53949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A5C"/>
                </a:solidFill>
              </a:rPr>
              <a:t>The 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1206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• Can speed history alone predict congestion 30 min ahead?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• No real-time feeds, no external map data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• Binary classification per road segment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• Chicago Traffic Tracker: 786K rows, Sept 2023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444444"/>
                </a:solidFill>
              </a:rPr>
              <a:t>• Metric: validation binary F1 (positive = congested)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234440"/>
            <a:ext cx="5943600" cy="5120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AutoResearch Contract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74519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Modify ONLY src/model.py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src/run.py FROZEN — split, label, metric immutable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Keep if val F1 improves, revert if not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Git commit every improvement, git checkout every discard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Test set locked — opened exactly once at the end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• All 30 runs logged to experiments/results.csv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Data, Label, and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</a:rPr>
              <a:t>What was measured and where we started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3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43200" cy="1554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71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786,420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E4F5"/>
                </a:solidFill>
              </a:rPr>
              <a:t>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4F8"/>
                </a:solidFill>
              </a:rPr>
              <a:t>Chicago Traffic Tracker, Sept 2023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743200" cy="1554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71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3.49 :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E4F5"/>
                </a:solidFill>
              </a:rPr>
              <a:t>class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4F8"/>
                </a:solidFill>
              </a:rPr>
              <a:t>77.7% not-congested vs 22.3% congested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2743200" cy="1554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371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~23 mph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E4F5"/>
                </a:solidFill>
              </a:rPr>
              <a:t>threshold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4F8"/>
                </a:solidFill>
              </a:rPr>
              <a:t>30th percentile of training speeds → 'congested'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280160"/>
            <a:ext cx="2743200" cy="15544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3716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30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965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0E4F5"/>
                </a:solidFill>
              </a:rPr>
              <a:t>forecast horizon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4F8"/>
                </a:solidFill>
              </a:rPr>
              <a:t>predict 3 time steps ahead per segment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30175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Baseline: Logistic Regression (lags 1–3 + time features)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429000"/>
            <a:ext cx="420624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" y="3483864"/>
            <a:ext cx="4096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3429000"/>
            <a:ext cx="77724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483864"/>
            <a:ext cx="667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3429000"/>
            <a:ext cx="96012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330952" y="3483864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3429000"/>
            <a:ext cx="86868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3483864"/>
            <a:ext cx="75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86600" y="3429000"/>
            <a:ext cx="22860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59752" y="3483864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931920"/>
            <a:ext cx="4206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7472" y="3986784"/>
            <a:ext cx="4096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exp_001  Logistic Regression baseline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80560" y="3931920"/>
            <a:ext cx="777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53712" y="3986784"/>
            <a:ext cx="667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0.5598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257800" y="3931920"/>
            <a:ext cx="960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30952" y="3986784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0.7549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3931920"/>
            <a:ext cx="868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2" y="3986784"/>
            <a:ext cx="75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0.4448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86600" y="393192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59752" y="3986784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Starting point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4434840"/>
            <a:ext cx="420624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4489704"/>
            <a:ext cx="4096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exp_030  Final LightGBM (validation)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480560" y="4434840"/>
            <a:ext cx="77724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53712" y="4489704"/>
            <a:ext cx="667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0.6806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257800" y="4434840"/>
            <a:ext cx="96012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330952" y="4489704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0.6352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4434840"/>
            <a:ext cx="86868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91072" y="4489704"/>
            <a:ext cx="75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0.7329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86600" y="4434840"/>
            <a:ext cx="2286000" cy="5029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59752" y="4489704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+21.6% F1 gain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937760"/>
            <a:ext cx="4206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472" y="4992624"/>
            <a:ext cx="4096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exp_030  Final LightGBM (TEST SET)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480560" y="4937760"/>
            <a:ext cx="7772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53712" y="4992624"/>
            <a:ext cx="6675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0.6183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57800" y="4937760"/>
            <a:ext cx="9601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30952" y="4992624"/>
            <a:ext cx="8503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0.5639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17920" y="4937760"/>
            <a:ext cx="868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1072" y="4992624"/>
            <a:ext cx="7589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0.6843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086600" y="4937760"/>
            <a:ext cx="2286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159752" y="4992624"/>
            <a:ext cx="21762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Held-out, once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Loop Design and Experiment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</a:rPr>
              <a:t>How the AutoResearch loop was structured and what it explored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4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1691640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53312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Read
model.py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79" y="1664208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1280160"/>
            <a:ext cx="1691640" cy="10972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1353312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Propose
one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64208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1280160"/>
            <a:ext cx="1691640" cy="109728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0" y="1353312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Edit &amp;
run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1664208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1280160"/>
            <a:ext cx="1691640" cy="1097280"/>
          </a:xfrm>
          <a:prstGeom prst="rect">
            <a:avLst/>
          </a:prstGeom>
          <a:solidFill>
            <a:srgbClr val="856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1353312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F1
improved?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664208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0" y="1280160"/>
            <a:ext cx="1691640" cy="1097280"/>
          </a:xfrm>
          <a:prstGeom prst="rect">
            <a:avLst/>
          </a:prstGeom>
          <a:solidFill>
            <a:srgbClr val="1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0" y="1353312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Commit
✓ keep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1664208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3A5C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0" y="1280160"/>
            <a:ext cx="1691640" cy="1097280"/>
          </a:xfrm>
          <a:prstGeom prst="rect">
            <a:avLst/>
          </a:prstGeom>
          <a:solidFill>
            <a:srgbClr val="A316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0" y="1353312"/>
            <a:ext cx="1691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Revert +
log discard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26060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30 experiments across 7 phases: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017520"/>
            <a:ext cx="36576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072384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017520"/>
            <a:ext cx="164592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05072" y="307238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Experiments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3017520"/>
            <a:ext cx="77724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3072384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Peak F1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3017520"/>
            <a:ext cx="68580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2" y="3072384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Gain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40880" y="3017520"/>
            <a:ext cx="3291840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2" y="3072384"/>
            <a:ext cx="3182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Verdict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474720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" y="3529584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Model selection (LR → RF + balance + lags)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931920" y="347472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005072" y="352958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exp_001–007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77840" y="3474720"/>
            <a:ext cx="777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650992" y="3529584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0.6566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474720"/>
            <a:ext cx="685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2" y="3529584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+0.097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40880" y="3474720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14032" y="3529584"/>
            <a:ext cx="3182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RF wins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3931920"/>
            <a:ext cx="365760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7472" y="3986784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RF hyperparameter grid (depth, trees, ratio)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31920" y="3931920"/>
            <a:ext cx="164592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05072" y="398678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exp_008–013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577840" y="3931920"/>
            <a:ext cx="77724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650992" y="3986784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0.6585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355080" y="3931920"/>
            <a:ext cx="68580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28232" y="3986784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+0.002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040880" y="3931920"/>
            <a:ext cx="329184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114032" y="3986784"/>
            <a:ext cx="3182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Ceiling hit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389120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4443984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Threshold sweep (0.35–0.50)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931920" y="438912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005072" y="444398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exp_014–018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577840" y="4389120"/>
            <a:ext cx="777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650992" y="4443984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0.6585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4389120"/>
            <a:ext cx="685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28232" y="4443984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+0.000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040880" y="4389120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14032" y="4443984"/>
            <a:ext cx="3182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Can't break it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4846320"/>
            <a:ext cx="365760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47472" y="4901184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Segment-relative features added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931920" y="4846320"/>
            <a:ext cx="164592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05072" y="490118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exp_019–021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577840" y="4846320"/>
            <a:ext cx="77724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650992" y="4901184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0.6727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55080" y="4846320"/>
            <a:ext cx="68580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428232" y="4901184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+0.014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40880" y="4846320"/>
            <a:ext cx="329184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114032" y="4901184"/>
            <a:ext cx="3182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CEILING BROKEN</a:t>
            </a:r>
          </a:p>
        </p:txBody>
      </p:sp>
      <p:sp>
        <p:nvSpPr>
          <p:cNvPr id="74" name="Rectangle 73"/>
          <p:cNvSpPr/>
          <p:nvPr/>
        </p:nvSpPr>
        <p:spPr>
          <a:xfrm>
            <a:off x="274320" y="5303520"/>
            <a:ext cx="36576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47472" y="5358384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Model comparison (RF/HGB/XGB/LightGBM)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931920" y="5303520"/>
            <a:ext cx="164592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005072" y="535838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exp_022–025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577840" y="5303520"/>
            <a:ext cx="7772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50992" y="5358384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0.6780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55080" y="5303520"/>
            <a:ext cx="6858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28232" y="5358384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+0.005</a:t>
            </a:r>
          </a:p>
        </p:txBody>
      </p:sp>
      <p:sp>
        <p:nvSpPr>
          <p:cNvPr id="82" name="Rectangle 81"/>
          <p:cNvSpPr/>
          <p:nvPr/>
        </p:nvSpPr>
        <p:spPr>
          <a:xfrm>
            <a:off x="7040880" y="5303520"/>
            <a:ext cx="3291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7114032" y="5358384"/>
            <a:ext cx="3182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LightGBM wins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274320" y="5760720"/>
            <a:ext cx="365760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47472" y="5815584"/>
            <a:ext cx="3547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LightGBM HP tuning (leaves, subsample)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931920" y="5760720"/>
            <a:ext cx="164592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005072" y="5815584"/>
            <a:ext cx="15361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exp_026–030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577840" y="5760720"/>
            <a:ext cx="77724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650992" y="5815584"/>
            <a:ext cx="6675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0.6806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55080" y="5760720"/>
            <a:ext cx="68580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28232" y="5815584"/>
            <a:ext cx="576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+0.003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040880" y="5760720"/>
            <a:ext cx="3291840" cy="4572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14032" y="5815584"/>
            <a:ext cx="31821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4444"/>
                </a:solidFill>
              </a:rPr>
              <a:t>Final locked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Key Finding: A Labeling-Driven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</a:rPr>
              <a:t>Why hyperparameter tuning hit a wall — and how we fixed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5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577840" cy="502920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31621"/>
                </a:solidFill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• Global threshold: speed &lt; 23 mph → 'congested'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• But different roads have very different normal speeds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• Highway at 22 mph = normal rush-hour pace, labeled congested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• Side street at 20 mph = unusually fast, labeled not congested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• → ~16.3% of training rows are mislabeled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• → No model can learn from systematically wrong labels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• → Hard ceiling at F1 ≈ 0.658 regardless of model or tuning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669280" cy="502920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D7A3A"/>
                </a:solidFill>
              </a:rPr>
              <a:t>The Fix (no leakage)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• Compute per-segment stats from training only: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•   segment_mean_speed = mean(SPEED) per segment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•   segment_std_speed  = std(SPEED)  per segment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•   speed_zscore = (SPEED − mean) / std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•   speed_vs_seg_mean = SPEED / mean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• Merge onto both splits by SEGMENT_ID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• Now model asks: 'slow for THIS road?'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• F1: 0.6585 → 0.6727 in one step (+0.014)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Final Result and Stability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</a:rPr>
              <a:t>exp_030: LightGBM tuned — test set opened exactly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6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2743200" cy="1737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53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Validation F1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7373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0.6806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4F8"/>
                </a:solidFill>
              </a:rPr>
              <a:t>model selection metric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280160"/>
            <a:ext cx="2743200" cy="1737360"/>
          </a:xfrm>
          <a:prstGeom prst="rect">
            <a:avLst/>
          </a:prstGeom>
          <a:solidFill>
            <a:srgbClr val="1D7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353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TEST SET F1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373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0.6183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4F8"/>
                </a:solidFill>
              </a:rPr>
              <a:t>held-out, opened once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280160"/>
            <a:ext cx="2743200" cy="17373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353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vs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+21.6%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4F8"/>
                </a:solidFill>
              </a:rPr>
              <a:t>F1 gain, 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280160"/>
            <a:ext cx="2743200" cy="173736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0" y="13533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Stability std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173736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±0.005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F4F8"/>
                </a:solidFill>
              </a:rPr>
              <a:t>across 5 random seeds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46120"/>
            <a:ext cx="5394960" cy="3200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37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Final Model (exp_030)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794760"/>
            <a:ext cx="51206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LightGBM  n_estimators=500, max_depth=6, lr=0.05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num_leaves=31, min_child_samples=10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colsample_bytree=0.8, subsample=0.8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Undersample majority 2:1, threshold=0.40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17 features (all segment-relative included)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2461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Stability across 5 seeds: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0" y="3657600"/>
            <a:ext cx="100584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16752" y="3712464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Seed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949440" y="3657600"/>
            <a:ext cx="100584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2" y="3712464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955280" y="3657600"/>
            <a:ext cx="100584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28432" y="3712464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961120" y="3657600"/>
            <a:ext cx="1005840" cy="384048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34272" y="3712464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041648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16752" y="4096512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42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949440" y="4041648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22592" y="4096512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0.671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55280" y="4041648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28432" y="4096512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0.595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4041648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4272" y="4096512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0.769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4425696"/>
            <a:ext cx="10058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16752" y="4480560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49440" y="4425696"/>
            <a:ext cx="10058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22592" y="4480560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0.668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955280" y="4425696"/>
            <a:ext cx="10058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28432" y="4480560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20" y="4425696"/>
            <a:ext cx="10058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34272" y="4480560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0.755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943600" y="4809744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16752" y="4864608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123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949440" y="4809744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22592" y="4864608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0.674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955280" y="4809744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28432" y="4864608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0.600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61120" y="4809744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034272" y="4864608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0.768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943600" y="5193792"/>
            <a:ext cx="10058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16752" y="5248656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7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949440" y="5193792"/>
            <a:ext cx="10058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22592" y="5248656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0.682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955280" y="5193792"/>
            <a:ext cx="10058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28432" y="5248656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0.636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61120" y="5193792"/>
            <a:ext cx="10058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34272" y="5248656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0.736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943600" y="5577840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016752" y="5632704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99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949440" y="5577840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022592" y="5632704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0.674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955280" y="5577840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28432" y="5632704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0.621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961120" y="5577840"/>
            <a:ext cx="100584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034272" y="5632704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0.737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43600" y="5961888"/>
            <a:ext cx="10058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16752" y="6016752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Mean ± Std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949440" y="5961888"/>
            <a:ext cx="10058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022592" y="6016752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>0.674 ± 0.005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955280" y="5961888"/>
            <a:ext cx="10058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028432" y="6016752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/>
            </a:r>
          </a:p>
        </p:txBody>
      </p:sp>
      <p:sp>
        <p:nvSpPr>
          <p:cNvPr id="80" name="Rectangle 79"/>
          <p:cNvSpPr/>
          <p:nvPr/>
        </p:nvSpPr>
        <p:spPr>
          <a:xfrm>
            <a:off x="8961120" y="5961888"/>
            <a:ext cx="1005840" cy="384048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034272" y="6016752"/>
            <a:ext cx="8961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44444"/>
                </a:solidFill>
              </a:rPr>
              <a:t/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943600" y="63550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44444"/>
                </a:solidFill>
              </a:rPr>
              <a:t>Val→Test gap (−0.062): test period has 24.4% congestion vs 29.7% in validation
— distribution shift in the later time window. No additional tuning was done.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Worked vs. What Failed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0E4F5"/>
                </a:solidFill>
              </a:rPr>
              <a:t>Honest breakdown of all 30 experiments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7 / 8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577840" cy="5120640"/>
          </a:xfrm>
          <a:prstGeom prst="rect">
            <a:avLst/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D7A3A"/>
                </a:solidFill>
              </a:rPr>
              <a:t>✓  Worked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 → +0.014 F1 (single biggest gain)</a:t>
            </a:r>
            <a:r>
              <a:rPr b="1" sz="1500">
                <a:solidFill>
                  <a:srgbClr val="1D7A3A"/>
                </a:solidFill>
              </a:rPr>
              <a:t>• Segment-relative features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 → cleaner precision than class_weight</a:t>
            </a:r>
            <a:r>
              <a:rPr b="1" sz="1500">
                <a:solidFill>
                  <a:srgbClr val="1D7A3A"/>
                </a:solidFill>
              </a:rPr>
              <a:t>• Class imbalance: undersample 2:1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 → consistent +0.003 on same setup</a:t>
            </a:r>
            <a:r>
              <a:rPr b="1" sz="1500">
                <a:solidFill>
                  <a:srgbClr val="1D7A3A"/>
                </a:solidFill>
              </a:rPr>
              <a:t>• LightGBM over RF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 → colsample+subsample=0.8 → +0.003</a:t>
            </a:r>
            <a:r>
              <a:rPr b="1" sz="1500">
                <a:solidFill>
                  <a:srgbClr val="1D7A3A"/>
                </a:solidFill>
              </a:rPr>
              <a:t>• Subsampling regularization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 → all 30 comparisons are valid and comparable</a:t>
            </a:r>
            <a:r>
              <a:rPr b="1" sz="1500">
                <a:solidFill>
                  <a:srgbClr val="1D7A3A"/>
                </a:solidFill>
              </a:rPr>
              <a:t>• Frozen evaluator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D7A3A"/>
                </a:solidFill>
              </a:rPr>
              <a:t> → zero lost experiments, zero accidental overrides</a:t>
            </a:r>
            <a:r>
              <a:rPr b="1" sz="1500">
                <a:solidFill>
                  <a:srgbClr val="1D7A3A"/>
                </a:solidFill>
              </a:rPr>
              <a:t>• Git discipline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669280" cy="512064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A31621"/>
                </a:solidFill>
              </a:rPr>
              <a:t>✗  Did Not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 → failed both attempts (exp_005, exp_022)</a:t>
            </a:r>
            <a:r>
              <a:rPr b="1" sz="1500">
                <a:solidFill>
                  <a:srgbClr val="A31621"/>
                </a:solidFill>
              </a:rPr>
              <a:t>• HistGradientBoosting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 → raises recall, always drops F1</a:t>
            </a:r>
            <a:r>
              <a:rPr b="1" sz="1500">
                <a:solidFill>
                  <a:srgbClr val="A31621"/>
                </a:solidFill>
              </a:rPr>
              <a:t>• Threshold below 0.40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 → 6 experiments, total gain &lt; 0.003</a:t>
            </a:r>
            <a:r>
              <a:rPr b="1" sz="1500">
                <a:solidFill>
                  <a:srgbClr val="A31621"/>
                </a:solidFill>
              </a:rPr>
              <a:t>• RF hyperparameter tuning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 → competitive but LightGBM wins every comparison</a:t>
            </a:r>
            <a:r>
              <a:rPr b="1" sz="1500">
                <a:solidFill>
                  <a:srgbClr val="A31621"/>
                </a:solidFill>
              </a:rPr>
              <a:t>• XGBoost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 → requires unfreezing run.py, out of scope</a:t>
            </a:r>
            <a:r>
              <a:rPr b="1" sz="1500">
                <a:solidFill>
                  <a:srgbClr val="A31621"/>
                </a:solidFill>
              </a:rPr>
              <a:t>• Fixing the label definition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A31621"/>
                </a:solidFill>
              </a:rPr>
              <a:t> → kept lucky runs without knowing it</a:t>
            </a:r>
            <a:r>
              <a:rPr b="1" sz="1500">
                <a:solidFill>
                  <a:srgbClr val="A31621"/>
                </a:solidFill>
              </a:rPr>
              <a:t>• Single-seed evaluation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Reflection: Limits of the AutoResearch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444444"/>
                </a:solidFill>
              </a:rPr>
              <a:t>8 /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0E4F5"/>
                </a:solidFill>
              </a:rPr>
              <a:t>What did I learn about doing research with AI agents?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737360"/>
            <a:ext cx="5669280" cy="214884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28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Agent excelled 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94560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Systematic bookkeeping — 30 experiments, 0 errors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Execution speed — hours not weeks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Identifying the labeling problem (measured 16.3% disagreement)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</a:rPr>
              <a:t>• Clean model comparison (held all variables constant)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669280" cy="2148840"/>
          </a:xfrm>
          <a:prstGeom prst="rect">
            <a:avLst/>
          </a:prstGeom>
          <a:solidFill>
            <a:srgbClr val="6C1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D7DA"/>
                </a:solidFill>
              </a:rPr>
              <a:t>Agent struggled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94560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8D7DA"/>
                </a:solidFill>
              </a:rPr>
              <a:t>• No lookahead — committed to RF for 20 exps before trying LightGBM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D7DA"/>
                </a:solidFill>
              </a:rPr>
              <a:t>• No repeat-on-change — HGB should have been retried with new features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D7DA"/>
                </a:solidFill>
              </a:rPr>
              <a:t>• Single-seed decisions — lucky runs weren't flagged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D7DA"/>
                </a:solidFill>
              </a:rPr>
              <a:t>• Can't diagnose *why* a ceiling exists — only measure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041648"/>
            <a:ext cx="5669280" cy="2148840"/>
          </a:xfrm>
          <a:prstGeom prst="rect">
            <a:avLst/>
          </a:prstGeom>
          <a:solidFill>
            <a:srgbClr val="1D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4133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EDDA"/>
                </a:solidFill>
              </a:rPr>
              <a:t>Human judgment was irreplaceable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498848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D4EDDA"/>
                </a:solidFill>
              </a:rPr>
              <a:t>• Framing 'why is the ceiling there?' — not just measuring it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4EDDA"/>
                </a:solidFill>
              </a:rPr>
              <a:t>• Deciding when diminishing returns justify stopping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4EDDA"/>
                </a:solidFill>
              </a:rPr>
              <a:t>• Keeping run.py frozen — protects all comparisons retroactively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D4EDDA"/>
                </a:solidFill>
              </a:rPr>
              <a:t>• Choosing which result is the 'story' worth telling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041648"/>
            <a:ext cx="5669280" cy="2148840"/>
          </a:xfrm>
          <a:prstGeom prst="rect">
            <a:avLst/>
          </a:prstGeom>
          <a:solidFill>
            <a:srgbClr val="5C45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4133088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3CD"/>
                </a:solidFill>
              </a:rPr>
              <a:t>Fundamental 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498848"/>
            <a:ext cx="53949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FF3CD"/>
                </a:solidFill>
              </a:rPr>
              <a:t>• Congestion label is still globally defined — partially wrong labels remain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3CD"/>
                </a:solidFill>
              </a:rPr>
              <a:t>• Val→Test gap (−0.062): later time period has different congestion rate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3CD"/>
                </a:solidFill>
              </a:rPr>
              <a:t>• Single dataset, single month — generalizability unknown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FF3CD"/>
                </a:solidFill>
              </a:rPr>
              <a:t>• Greedy loop misses global optima by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373368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D0E4F5"/>
                </a:solidFill>
              </a:rPr>
              <a:t>Key insight: the loop shifts the bottleneck from execution to diagnosis — asking the right question matters more than running more experiments.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